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512" r:id="rId2"/>
    <p:sldId id="513" r:id="rId3"/>
    <p:sldId id="514" r:id="rId4"/>
    <p:sldId id="515" r:id="rId5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17" userDrawn="1">
          <p15:clr>
            <a:srgbClr val="A4A3A4"/>
          </p15:clr>
        </p15:guide>
        <p15:guide id="3" orient="horz" pos="191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F0C4"/>
    <a:srgbClr val="70E5BA"/>
    <a:srgbClr val="98EEEC"/>
    <a:srgbClr val="00D5D5"/>
    <a:srgbClr val="6FE4B9"/>
    <a:srgbClr val="9DC3E6"/>
    <a:srgbClr val="73FEFF"/>
    <a:srgbClr val="00C0C0"/>
    <a:srgbClr val="008080"/>
    <a:srgbClr val="FF56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082" autoAdjust="0"/>
    <p:restoredTop sz="79184" autoAdjust="0"/>
  </p:normalViewPr>
  <p:slideViewPr>
    <p:cSldViewPr snapToGrid="0" showGuides="1">
      <p:cViewPr varScale="1">
        <p:scale>
          <a:sx n="100" d="100"/>
          <a:sy n="100" d="100"/>
        </p:scale>
        <p:origin x="872" y="168"/>
      </p:cViewPr>
      <p:guideLst>
        <p:guide pos="3817"/>
        <p:guide orient="horz" pos="1911"/>
      </p:guideLst>
    </p:cSldViewPr>
  </p:slideViewPr>
  <p:notesTextViewPr>
    <p:cViewPr>
      <p:scale>
        <a:sx n="20" d="100"/>
        <a:sy n="20" d="100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092D09-6E53-4EE3-94EA-323CDEEA173D}" type="datetimeFigureOut">
              <a:rPr lang="zh-CN" altLang="en-US" smtClean="0"/>
              <a:t>2023/6/23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23550C-0EAD-42A3-AC8C-7F87D0B3B9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1356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15763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4851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1855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6080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8511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4B914-9BB2-4713-9EBF-61770F406B81}" type="datetime1">
              <a:rPr lang="zh-CN" altLang="en-US" smtClean="0"/>
              <a:t>2023/6/23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6538A-33AE-45EB-868C-14B9E34ED9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587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4B914-9BB2-4713-9EBF-61770F406B81}" type="datetime1">
              <a:rPr lang="zh-CN" altLang="en-US" smtClean="0"/>
              <a:t>2023/6/23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6538A-33AE-45EB-868C-14B9E34ED9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8536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4B914-9BB2-4713-9EBF-61770F406B81}" type="datetime1">
              <a:rPr lang="zh-CN" altLang="en-US" smtClean="0"/>
              <a:t>2023/6/23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6538A-33AE-45EB-868C-14B9E34ED96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8815098" y="6431122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www.1ppt.com/moban/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www.1ppt.com/hangye/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节日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www.1ppt.com/jieri/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素材下载：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www.1ppt.com/sucai/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背景图片：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www.1ppt.com/beijing/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图表下载：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www.1ppt.com/tubiao/  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优秀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www.1ppt.com/powerpoint/  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Word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www.1ppt.com/word/              Excel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www.1ppt.com/excel/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资料下载：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www.1ppt.com/ziliao/     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课件下载：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www.1ppt.com/kejian/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范文下载：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www.1ppt.com/fanwen/        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试卷下载：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www.1ppt.com/shiti/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教案下载：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www.1ppt.com/jiaoan/    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字体下载：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www.1ppt.com/ziti/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endParaRPr kumimoji="0" lang="zh-CN" altLang="en-US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845498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84B914-9BB2-4713-9EBF-61770F406B81}" type="datetime1">
              <a:rPr lang="zh-CN" altLang="en-US" smtClean="0"/>
              <a:t>2023/6/23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B6538A-33AE-45EB-868C-14B9E34ED9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9059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610B98B-3717-47B5-D710-5246FEE90200}"/>
              </a:ext>
            </a:extLst>
          </p:cNvPr>
          <p:cNvSpPr txBox="1"/>
          <p:nvPr/>
        </p:nvSpPr>
        <p:spPr>
          <a:xfrm>
            <a:off x="3890357" y="315883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b="1" dirty="0"/>
              <a:t>模拟分布式数据库处理</a:t>
            </a:r>
            <a:r>
              <a:rPr kumimoji="1" lang="en-US" altLang="zh-CN" sz="2000" b="1" dirty="0"/>
              <a:t>Hash</a:t>
            </a:r>
            <a:r>
              <a:rPr kumimoji="1" lang="zh-CN" altLang="en-US" sz="2000" b="1" dirty="0"/>
              <a:t> </a:t>
            </a:r>
            <a:r>
              <a:rPr kumimoji="1" lang="en-US" altLang="zh-CN" sz="2000" b="1" dirty="0"/>
              <a:t>Join</a:t>
            </a:r>
            <a:r>
              <a:rPr kumimoji="1" lang="zh-CN" altLang="en-US" sz="2000" b="1" dirty="0"/>
              <a:t>难题的解决思路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6A3FCD6-A2BA-5AF3-FD5A-62CFC7D1D746}"/>
              </a:ext>
            </a:extLst>
          </p:cNvPr>
          <p:cNvSpPr txBox="1"/>
          <p:nvPr/>
        </p:nvSpPr>
        <p:spPr>
          <a:xfrm>
            <a:off x="1463040" y="5637515"/>
            <a:ext cx="10723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不幸的是，</a:t>
            </a:r>
            <a:r>
              <a:rPr lang="zh-CN" altLang="en-US" dirty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可以看到其在</a:t>
            </a:r>
            <a:r>
              <a:rPr lang="en" altLang="zh-CN" dirty="0">
                <a:effectLst/>
                <a:latin typeface="Helvetica Neue" panose="02000503000000020004" pitchFamily="2" charset="0"/>
                <a:ea typeface="PingFang SC" panose="020B0400000000000000" pitchFamily="34" charset="-122"/>
              </a:rPr>
              <a:t>join</a:t>
            </a:r>
            <a:r>
              <a:rPr lang="zh-CN" altLang="en-US" dirty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操作的时候使用了索引来加速查询。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E33ADAE-0A06-B657-4C46-975FC8A440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40" y="1703626"/>
            <a:ext cx="8841872" cy="3716271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6655E857-C2DB-9937-18B3-D3364744BFB9}"/>
              </a:ext>
            </a:extLst>
          </p:cNvPr>
          <p:cNvSpPr txBox="1"/>
          <p:nvPr/>
        </p:nvSpPr>
        <p:spPr>
          <a:xfrm>
            <a:off x="1116676" y="1116676"/>
            <a:ext cx="107234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kumimoji="1" lang="zh-CN" altLang="en-US" dirty="0"/>
              <a:t>首先，需要明确</a:t>
            </a:r>
            <a:r>
              <a:rPr kumimoji="1" lang="en-US" altLang="zh-CN" dirty="0"/>
              <a:t>Greenplum</a:t>
            </a:r>
            <a:r>
              <a:rPr kumimoji="1" lang="zh-CN" altLang="en-US" dirty="0"/>
              <a:t>数据库是否会在</a:t>
            </a:r>
            <a:r>
              <a:rPr kumimoji="1" lang="en-US" altLang="zh-CN" dirty="0"/>
              <a:t>hash join</a:t>
            </a:r>
            <a:r>
              <a:rPr kumimoji="1" lang="zh-CN" altLang="en-US" dirty="0"/>
              <a:t>时使用到索引，因为我们研究的是索引的效果，如果其在</a:t>
            </a:r>
            <a:r>
              <a:rPr kumimoji="1" lang="en-US" altLang="zh-CN" dirty="0"/>
              <a:t>hash</a:t>
            </a:r>
            <a:r>
              <a:rPr kumimoji="1" lang="zh-CN" altLang="en-US" dirty="0"/>
              <a:t> </a:t>
            </a:r>
            <a:r>
              <a:rPr kumimoji="1" lang="en-US" altLang="zh-CN" dirty="0"/>
              <a:t>join</a:t>
            </a:r>
            <a:r>
              <a:rPr kumimoji="1" lang="zh-CN" altLang="en-US" dirty="0"/>
              <a:t>的时候不使用索引我们就可以直接忽略这个问题。</a:t>
            </a:r>
            <a:endParaRPr kumimoji="1" lang="en-US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74312400"/>
      </p:ext>
    </p:extLst>
  </p:cSld>
  <p:clrMapOvr>
    <a:masterClrMapping/>
  </p:clrMapOvr>
  <p:transition spd="slow" advTm="13206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610B98B-3717-47B5-D710-5246FEE90200}"/>
              </a:ext>
            </a:extLst>
          </p:cNvPr>
          <p:cNvSpPr txBox="1"/>
          <p:nvPr/>
        </p:nvSpPr>
        <p:spPr>
          <a:xfrm>
            <a:off x="3890357" y="315883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b="1" dirty="0"/>
              <a:t>模拟分布式数据库处理</a:t>
            </a:r>
            <a:r>
              <a:rPr kumimoji="1" lang="en-US" altLang="zh-CN" sz="2000" b="1" dirty="0"/>
              <a:t>Hash</a:t>
            </a:r>
            <a:r>
              <a:rPr kumimoji="1" lang="zh-CN" altLang="en-US" sz="2000" b="1" dirty="0"/>
              <a:t> </a:t>
            </a:r>
            <a:r>
              <a:rPr kumimoji="1" lang="en-US" altLang="zh-CN" sz="2000" b="1" dirty="0"/>
              <a:t>Join</a:t>
            </a:r>
            <a:r>
              <a:rPr kumimoji="1" lang="zh-CN" altLang="en-US" sz="2000" b="1" dirty="0"/>
              <a:t>难题的解决思路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655E857-C2DB-9937-18B3-D3364744BFB9}"/>
              </a:ext>
            </a:extLst>
          </p:cNvPr>
          <p:cNvSpPr txBox="1"/>
          <p:nvPr/>
        </p:nvSpPr>
        <p:spPr>
          <a:xfrm>
            <a:off x="1116676" y="1116676"/>
            <a:ext cx="10723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2.</a:t>
            </a:r>
            <a:r>
              <a:rPr kumimoji="1" lang="zh-CN" altLang="en-US" dirty="0"/>
              <a:t>使用模拟的方式改写</a:t>
            </a:r>
            <a:r>
              <a:rPr kumimoji="1" lang="en-US" altLang="zh-CN" dirty="0" err="1"/>
              <a:t>sql</a:t>
            </a:r>
            <a:r>
              <a:rPr kumimoji="1" lang="zh-CN" altLang="en-US" dirty="0"/>
              <a:t>，从而模拟实现</a:t>
            </a:r>
            <a:r>
              <a:rPr lang="zh-CN" altLang="en-US" dirty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每个节点保留符合条件的</a:t>
            </a:r>
            <a:r>
              <a:rPr lang="en-US" altLang="zh-CN" dirty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records</a:t>
            </a:r>
            <a:r>
              <a:rPr lang="zh-CN" altLang="en-US" dirty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的效果。具体操作如下：</a:t>
            </a:r>
            <a:endParaRPr lang="en-US" altLang="zh-CN" dirty="0"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5A06B3C-F9FC-BB23-3D0B-29D512B6B735}"/>
              </a:ext>
            </a:extLst>
          </p:cNvPr>
          <p:cNvSpPr txBox="1"/>
          <p:nvPr/>
        </p:nvSpPr>
        <p:spPr>
          <a:xfrm>
            <a:off x="1433945" y="1613378"/>
            <a:ext cx="100888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对于一个含有</a:t>
            </a:r>
            <a:r>
              <a:rPr kumimoji="1" lang="en-US" altLang="zh-CN" dirty="0"/>
              <a:t>join</a:t>
            </a:r>
            <a:r>
              <a:rPr kumimoji="1" lang="zh-CN" altLang="en-US" dirty="0"/>
              <a:t>操作的语句：</a:t>
            </a:r>
            <a:r>
              <a:rPr kumimoji="1" lang="en-US" altLang="zh-CN" dirty="0"/>
              <a:t> </a:t>
            </a:r>
          </a:p>
          <a:p>
            <a:pPr lvl="1"/>
            <a:r>
              <a:rPr kumimoji="1" lang="en-US" altLang="zh-CN" dirty="0"/>
              <a:t>SELECT * FROM c, o, l</a:t>
            </a:r>
            <a:br>
              <a:rPr kumimoji="1" lang="en-US" altLang="zh-CN" dirty="0"/>
            </a:br>
            <a:r>
              <a:rPr kumimoji="1" lang="en-US" altLang="zh-CN" dirty="0"/>
              <a:t>WHERE </a:t>
            </a:r>
            <a:r>
              <a:rPr kumimoji="1" lang="en-US" altLang="zh-CN" dirty="0" err="1"/>
              <a:t>c_custkey</a:t>
            </a:r>
            <a:r>
              <a:rPr kumimoji="1" lang="en-US" altLang="zh-CN" dirty="0"/>
              <a:t> = o_custkey AND l_orderkey = o_orderkey</a:t>
            </a:r>
          </a:p>
          <a:p>
            <a:r>
              <a:rPr kumimoji="1" lang="zh-CN" altLang="en-US" dirty="0"/>
              <a:t>诉求：</a:t>
            </a:r>
            <a:endParaRPr kumimoji="1" lang="en-US" altLang="zh-CN" dirty="0"/>
          </a:p>
          <a:p>
            <a:r>
              <a:rPr kumimoji="1" lang="zh-CN" altLang="en-US" dirty="0"/>
              <a:t>         在子表中保留所有满足全局要求的</a:t>
            </a:r>
            <a:r>
              <a:rPr kumimoji="1" lang="en-US" altLang="zh-CN" dirty="0"/>
              <a:t>item</a:t>
            </a:r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96D9EC94-B44F-6E93-3C6E-F16BA66387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8991885"/>
              </p:ext>
            </p:extLst>
          </p:nvPr>
        </p:nvGraphicFramePr>
        <p:xfrm>
          <a:off x="5661936" y="3464714"/>
          <a:ext cx="1544090" cy="25127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4090">
                  <a:extLst>
                    <a:ext uri="{9D8B030D-6E8A-4147-A177-3AD203B41FA5}">
                      <a16:colId xmlns:a16="http://schemas.microsoft.com/office/drawing/2014/main" val="956463119"/>
                    </a:ext>
                  </a:extLst>
                </a:gridCol>
              </a:tblGrid>
              <a:tr h="5025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c_custkey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447514"/>
                  </a:ext>
                </a:extLst>
              </a:tr>
              <a:tr h="5025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444273"/>
                  </a:ext>
                </a:extLst>
              </a:tr>
              <a:tr h="5025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25515"/>
                  </a:ext>
                </a:extLst>
              </a:tr>
              <a:tr h="5025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8740586"/>
                  </a:ext>
                </a:extLst>
              </a:tr>
              <a:tr h="5025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5807255"/>
                  </a:ext>
                </a:extLst>
              </a:tr>
            </a:tbl>
          </a:graphicData>
        </a:graphic>
      </p:graphicFrame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53BBB609-B7E5-5348-B505-E3BC337612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0424354"/>
              </p:ext>
            </p:extLst>
          </p:nvPr>
        </p:nvGraphicFramePr>
        <p:xfrm>
          <a:off x="7703057" y="3460557"/>
          <a:ext cx="2560322" cy="251278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80161">
                  <a:extLst>
                    <a:ext uri="{9D8B030D-6E8A-4147-A177-3AD203B41FA5}">
                      <a16:colId xmlns:a16="http://schemas.microsoft.com/office/drawing/2014/main" val="3499067888"/>
                    </a:ext>
                  </a:extLst>
                </a:gridCol>
                <a:gridCol w="1280161">
                  <a:extLst>
                    <a:ext uri="{9D8B030D-6E8A-4147-A177-3AD203B41FA5}">
                      <a16:colId xmlns:a16="http://schemas.microsoft.com/office/drawing/2014/main" val="812049151"/>
                    </a:ext>
                  </a:extLst>
                </a:gridCol>
              </a:tblGrid>
              <a:tr h="5025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o_custkey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o_orderkey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980879"/>
                  </a:ext>
                </a:extLst>
              </a:tr>
              <a:tr h="5025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4966030"/>
                  </a:ext>
                </a:extLst>
              </a:tr>
              <a:tr h="5025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7956824"/>
                  </a:ext>
                </a:extLst>
              </a:tr>
              <a:tr h="5025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154822"/>
                  </a:ext>
                </a:extLst>
              </a:tr>
              <a:tr h="5025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3528283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CF383F50-4DCC-ECB8-1B74-1629E8202C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7730709"/>
              </p:ext>
            </p:extLst>
          </p:nvPr>
        </p:nvGraphicFramePr>
        <p:xfrm>
          <a:off x="10746902" y="3460558"/>
          <a:ext cx="1280161" cy="2512785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280161">
                  <a:extLst>
                    <a:ext uri="{9D8B030D-6E8A-4147-A177-3AD203B41FA5}">
                      <a16:colId xmlns:a16="http://schemas.microsoft.com/office/drawing/2014/main" val="3499067888"/>
                    </a:ext>
                  </a:extLst>
                </a:gridCol>
              </a:tblGrid>
              <a:tr h="5025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l_orderkey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980879"/>
                  </a:ext>
                </a:extLst>
              </a:tr>
              <a:tr h="5025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4966030"/>
                  </a:ext>
                </a:extLst>
              </a:tr>
              <a:tr h="5025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7956824"/>
                  </a:ext>
                </a:extLst>
              </a:tr>
              <a:tr h="5025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154822"/>
                  </a:ext>
                </a:extLst>
              </a:tr>
              <a:tr h="5025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3528283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E21332DA-7B01-9EF5-3912-36F0AAB60A39}"/>
              </a:ext>
            </a:extLst>
          </p:cNvPr>
          <p:cNvSpPr/>
          <p:nvPr/>
        </p:nvSpPr>
        <p:spPr>
          <a:xfrm>
            <a:off x="5530666" y="4393783"/>
            <a:ext cx="1743755" cy="646331"/>
          </a:xfrm>
          <a:prstGeom prst="rect">
            <a:avLst/>
          </a:prstGeom>
          <a:noFill/>
          <a:ln w="539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E94CD31-711B-B7E1-2C28-D1ABA77039E0}"/>
              </a:ext>
            </a:extLst>
          </p:cNvPr>
          <p:cNvSpPr txBox="1"/>
          <p:nvPr/>
        </p:nvSpPr>
        <p:spPr>
          <a:xfrm>
            <a:off x="4545367" y="4532282"/>
            <a:ext cx="1266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BLOCK X</a:t>
            </a:r>
            <a:endParaRPr kumimoji="1" lang="zh-CN" alt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064880AE-48A8-09BE-56F5-850369CF7D18}"/>
              </a:ext>
            </a:extLst>
          </p:cNvPr>
          <p:cNvCxnSpPr>
            <a:cxnSpLocks/>
          </p:cNvCxnSpPr>
          <p:nvPr/>
        </p:nvCxnSpPr>
        <p:spPr>
          <a:xfrm>
            <a:off x="7917084" y="4809017"/>
            <a:ext cx="2199190" cy="0"/>
          </a:xfrm>
          <a:prstGeom prst="line">
            <a:avLst/>
          </a:prstGeom>
          <a:ln w="50800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D4E5A3B6-563B-0FCD-8DA8-145A16247134}"/>
              </a:ext>
            </a:extLst>
          </p:cNvPr>
          <p:cNvCxnSpPr>
            <a:cxnSpLocks/>
          </p:cNvCxnSpPr>
          <p:nvPr/>
        </p:nvCxnSpPr>
        <p:spPr>
          <a:xfrm>
            <a:off x="7917084" y="5794795"/>
            <a:ext cx="2199190" cy="0"/>
          </a:xfrm>
          <a:prstGeom prst="line">
            <a:avLst/>
          </a:prstGeom>
          <a:ln w="50800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61902677-6530-D283-8C1A-56D3B9A3C698}"/>
              </a:ext>
            </a:extLst>
          </p:cNvPr>
          <p:cNvCxnSpPr>
            <a:cxnSpLocks/>
          </p:cNvCxnSpPr>
          <p:nvPr/>
        </p:nvCxnSpPr>
        <p:spPr>
          <a:xfrm>
            <a:off x="11092792" y="4809017"/>
            <a:ext cx="588380" cy="0"/>
          </a:xfrm>
          <a:prstGeom prst="line">
            <a:avLst/>
          </a:prstGeom>
          <a:ln w="50800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连接符 21">
            <a:extLst>
              <a:ext uri="{FF2B5EF4-FFF2-40B4-BE49-F238E27FC236}">
                <a16:creationId xmlns:a16="http://schemas.microsoft.com/office/drawing/2014/main" id="{E68DFB6F-C3BF-CFA0-9094-2DC1C834C2FC}"/>
              </a:ext>
            </a:extLst>
          </p:cNvPr>
          <p:cNvCxnSpPr>
            <a:cxnSpLocks/>
          </p:cNvCxnSpPr>
          <p:nvPr/>
        </p:nvCxnSpPr>
        <p:spPr>
          <a:xfrm>
            <a:off x="11092792" y="4344146"/>
            <a:ext cx="588380" cy="0"/>
          </a:xfrm>
          <a:prstGeom prst="line">
            <a:avLst/>
          </a:prstGeom>
          <a:ln w="50800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4F315D4B-0A78-7955-34E6-2386105A5FDA}"/>
              </a:ext>
            </a:extLst>
          </p:cNvPr>
          <p:cNvSpPr txBox="1"/>
          <p:nvPr/>
        </p:nvSpPr>
        <p:spPr>
          <a:xfrm>
            <a:off x="1329772" y="3885951"/>
            <a:ext cx="332325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对于节点</a:t>
            </a:r>
            <a:r>
              <a:rPr kumimoji="1"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X</a:t>
            </a:r>
            <a:r>
              <a:rPr kumimoji="1" lang="zh-CN" altLang="en-US" dirty="0"/>
              <a:t>，</a:t>
            </a:r>
            <a:r>
              <a:rPr kumimoji="1" lang="en-US" altLang="zh-CN" dirty="0"/>
              <a:t>c</a:t>
            </a:r>
            <a:r>
              <a:rPr kumimoji="1" lang="zh-CN" altLang="en-US" dirty="0"/>
              <a:t>表要保留</a:t>
            </a:r>
            <a:r>
              <a:rPr kumimoji="1" lang="en-US" altLang="zh-CN" dirty="0"/>
              <a:t>custkey</a:t>
            </a:r>
            <a:r>
              <a:rPr kumimoji="1" lang="zh-CN" altLang="en-US" dirty="0"/>
              <a:t>与</a:t>
            </a:r>
            <a:r>
              <a:rPr kumimoji="1" lang="en-US" altLang="zh-CN" dirty="0"/>
              <a:t>o</a:t>
            </a:r>
            <a:r>
              <a:rPr kumimoji="1" lang="zh-CN" altLang="en-US" dirty="0"/>
              <a:t>表中</a:t>
            </a:r>
            <a:r>
              <a:rPr kumimoji="1" lang="en-US" altLang="zh-CN" dirty="0"/>
              <a:t>custkey</a:t>
            </a:r>
            <a:r>
              <a:rPr kumimoji="1" lang="zh-CN" altLang="en-US" dirty="0"/>
              <a:t>相同的项，即执行语句：</a:t>
            </a:r>
            <a:br>
              <a:rPr kumimoji="1" lang="en-US" altLang="zh-CN" dirty="0"/>
            </a:br>
            <a:r>
              <a:rPr kumimoji="1" lang="en-US" altLang="zh-CN" dirty="0"/>
              <a:t>SELECT * FROM </a:t>
            </a:r>
            <a:r>
              <a:rPr kumimoji="1" lang="en-US" altLang="zh-CN" dirty="0" err="1"/>
              <a:t>c</a:t>
            </a:r>
            <a:r>
              <a:rPr kumimoji="1" lang="en-US" altLang="zh-CN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_X</a:t>
            </a:r>
            <a:r>
              <a:rPr kumimoji="1" lang="en-US" altLang="zh-CN" dirty="0"/>
              <a:t>, o, l</a:t>
            </a:r>
            <a:br>
              <a:rPr kumimoji="1" lang="en-US" altLang="zh-CN" dirty="0"/>
            </a:br>
            <a:r>
              <a:rPr kumimoji="1" lang="en-US" altLang="zh-CN" dirty="0"/>
              <a:t>WHERE </a:t>
            </a:r>
            <a:r>
              <a:rPr kumimoji="1" lang="en-US" altLang="zh-CN" dirty="0" err="1"/>
              <a:t>c_custkey</a:t>
            </a:r>
            <a:r>
              <a:rPr kumimoji="1" lang="en-US" altLang="zh-CN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_X</a:t>
            </a:r>
            <a:r>
              <a:rPr kumimoji="1"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kumimoji="1" lang="en-US" altLang="zh-CN" dirty="0"/>
              <a:t>= o_custkey AND l_orderkey = o_orderkey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41749143"/>
      </p:ext>
    </p:extLst>
  </p:cSld>
  <p:clrMapOvr>
    <a:masterClrMapping/>
  </p:clrMapOvr>
  <p:transition spd="slow" advTm="13206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610B98B-3717-47B5-D710-5246FEE90200}"/>
              </a:ext>
            </a:extLst>
          </p:cNvPr>
          <p:cNvSpPr txBox="1"/>
          <p:nvPr/>
        </p:nvSpPr>
        <p:spPr>
          <a:xfrm>
            <a:off x="3890357" y="315883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b="1" dirty="0"/>
              <a:t>模拟分布式数据库处理</a:t>
            </a:r>
            <a:r>
              <a:rPr kumimoji="1" lang="en-US" altLang="zh-CN" sz="2000" b="1" dirty="0"/>
              <a:t>Hash</a:t>
            </a:r>
            <a:r>
              <a:rPr kumimoji="1" lang="zh-CN" altLang="en-US" sz="2000" b="1" dirty="0"/>
              <a:t> </a:t>
            </a:r>
            <a:r>
              <a:rPr kumimoji="1" lang="en-US" altLang="zh-CN" sz="2000" b="1" dirty="0"/>
              <a:t>Join</a:t>
            </a:r>
            <a:r>
              <a:rPr kumimoji="1" lang="zh-CN" altLang="en-US" sz="2000" b="1" dirty="0"/>
              <a:t>难题的解决思路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655E857-C2DB-9937-18B3-D3364744BFB9}"/>
              </a:ext>
            </a:extLst>
          </p:cNvPr>
          <p:cNvSpPr txBox="1"/>
          <p:nvPr/>
        </p:nvSpPr>
        <p:spPr>
          <a:xfrm>
            <a:off x="1116676" y="1116676"/>
            <a:ext cx="10723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2.</a:t>
            </a:r>
            <a:r>
              <a:rPr kumimoji="1" lang="zh-CN" altLang="en-US" dirty="0"/>
              <a:t>使用模拟的方式改写</a:t>
            </a:r>
            <a:r>
              <a:rPr kumimoji="1" lang="en-US" altLang="zh-CN" dirty="0" err="1"/>
              <a:t>sql</a:t>
            </a:r>
            <a:r>
              <a:rPr kumimoji="1" lang="zh-CN" altLang="en-US" dirty="0"/>
              <a:t>，从而模拟实现</a:t>
            </a:r>
            <a:r>
              <a:rPr lang="zh-CN" altLang="en-US" dirty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每个节点保留符合条件的</a:t>
            </a:r>
            <a:r>
              <a:rPr lang="en-US" altLang="zh-CN" dirty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records</a:t>
            </a:r>
            <a:r>
              <a:rPr lang="zh-CN" altLang="en-US" dirty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的效果。具体操作如下：</a:t>
            </a:r>
            <a:endParaRPr lang="en-US" altLang="zh-CN" dirty="0"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5A06B3C-F9FC-BB23-3D0B-29D512B6B735}"/>
              </a:ext>
            </a:extLst>
          </p:cNvPr>
          <p:cNvSpPr txBox="1"/>
          <p:nvPr/>
        </p:nvSpPr>
        <p:spPr>
          <a:xfrm>
            <a:off x="1433945" y="1613378"/>
            <a:ext cx="100888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对于一个含有</a:t>
            </a:r>
            <a:r>
              <a:rPr kumimoji="1" lang="en-US" altLang="zh-CN" dirty="0"/>
              <a:t>join</a:t>
            </a:r>
            <a:r>
              <a:rPr kumimoji="1" lang="zh-CN" altLang="en-US" dirty="0"/>
              <a:t>操作的语句：</a:t>
            </a:r>
            <a:r>
              <a:rPr kumimoji="1" lang="en-US" altLang="zh-CN" dirty="0"/>
              <a:t> </a:t>
            </a:r>
          </a:p>
          <a:p>
            <a:pPr lvl="1"/>
            <a:r>
              <a:rPr kumimoji="1" lang="en-US" altLang="zh-CN" dirty="0"/>
              <a:t>SELECT * FROM c, o, l</a:t>
            </a:r>
            <a:br>
              <a:rPr kumimoji="1" lang="en-US" altLang="zh-CN" dirty="0"/>
            </a:br>
            <a:r>
              <a:rPr kumimoji="1" lang="en-US" altLang="zh-CN" dirty="0"/>
              <a:t>WHERE </a:t>
            </a:r>
            <a:r>
              <a:rPr kumimoji="1" lang="en-US" altLang="zh-CN" dirty="0" err="1"/>
              <a:t>c_custkey</a:t>
            </a:r>
            <a:r>
              <a:rPr kumimoji="1" lang="en-US" altLang="zh-CN" dirty="0"/>
              <a:t> = o_custkey AND l_orderkey = o_orderkey</a:t>
            </a:r>
          </a:p>
          <a:p>
            <a:r>
              <a:rPr kumimoji="1" lang="zh-CN" altLang="en-US" dirty="0"/>
              <a:t>诉求：</a:t>
            </a:r>
            <a:endParaRPr kumimoji="1" lang="en-US" altLang="zh-CN" dirty="0"/>
          </a:p>
          <a:p>
            <a:r>
              <a:rPr kumimoji="1" lang="zh-CN" altLang="en-US" dirty="0"/>
              <a:t>         在子表中保留所有满足全局要求的</a:t>
            </a:r>
            <a:r>
              <a:rPr kumimoji="1" lang="en-US" altLang="zh-CN" dirty="0"/>
              <a:t>item</a:t>
            </a:r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96D9EC94-B44F-6E93-3C6E-F16BA66387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0689461"/>
              </p:ext>
            </p:extLst>
          </p:nvPr>
        </p:nvGraphicFramePr>
        <p:xfrm>
          <a:off x="4896643" y="3482962"/>
          <a:ext cx="1544090" cy="25127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4090">
                  <a:extLst>
                    <a:ext uri="{9D8B030D-6E8A-4147-A177-3AD203B41FA5}">
                      <a16:colId xmlns:a16="http://schemas.microsoft.com/office/drawing/2014/main" val="956463119"/>
                    </a:ext>
                  </a:extLst>
                </a:gridCol>
              </a:tblGrid>
              <a:tr h="5025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c_custkey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447514"/>
                  </a:ext>
                </a:extLst>
              </a:tr>
              <a:tr h="5025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444273"/>
                  </a:ext>
                </a:extLst>
              </a:tr>
              <a:tr h="5025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25515"/>
                  </a:ext>
                </a:extLst>
              </a:tr>
              <a:tr h="5025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8740586"/>
                  </a:ext>
                </a:extLst>
              </a:tr>
              <a:tr h="5025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5807255"/>
                  </a:ext>
                </a:extLst>
              </a:tr>
            </a:tbl>
          </a:graphicData>
        </a:graphic>
      </p:graphicFrame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53BBB609-B7E5-5348-B505-E3BC337612AE}"/>
              </a:ext>
            </a:extLst>
          </p:cNvPr>
          <p:cNvGraphicFramePr>
            <a:graphicFrameLocks noGrp="1"/>
          </p:cNvGraphicFramePr>
          <p:nvPr/>
        </p:nvGraphicFramePr>
        <p:xfrm>
          <a:off x="7703057" y="3460557"/>
          <a:ext cx="2560322" cy="251278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80161">
                  <a:extLst>
                    <a:ext uri="{9D8B030D-6E8A-4147-A177-3AD203B41FA5}">
                      <a16:colId xmlns:a16="http://schemas.microsoft.com/office/drawing/2014/main" val="3499067888"/>
                    </a:ext>
                  </a:extLst>
                </a:gridCol>
                <a:gridCol w="1280161">
                  <a:extLst>
                    <a:ext uri="{9D8B030D-6E8A-4147-A177-3AD203B41FA5}">
                      <a16:colId xmlns:a16="http://schemas.microsoft.com/office/drawing/2014/main" val="812049151"/>
                    </a:ext>
                  </a:extLst>
                </a:gridCol>
              </a:tblGrid>
              <a:tr h="5025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o_custkey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o_orderkey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980879"/>
                  </a:ext>
                </a:extLst>
              </a:tr>
              <a:tr h="5025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4966030"/>
                  </a:ext>
                </a:extLst>
              </a:tr>
              <a:tr h="5025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7956824"/>
                  </a:ext>
                </a:extLst>
              </a:tr>
              <a:tr h="5025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154822"/>
                  </a:ext>
                </a:extLst>
              </a:tr>
              <a:tr h="5025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3528283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CF383F50-4DCC-ECB8-1B74-1629E8202CD2}"/>
              </a:ext>
            </a:extLst>
          </p:cNvPr>
          <p:cNvGraphicFramePr>
            <a:graphicFrameLocks noGrp="1"/>
          </p:cNvGraphicFramePr>
          <p:nvPr/>
        </p:nvGraphicFramePr>
        <p:xfrm>
          <a:off x="10746902" y="3460558"/>
          <a:ext cx="1280161" cy="2512785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280161">
                  <a:extLst>
                    <a:ext uri="{9D8B030D-6E8A-4147-A177-3AD203B41FA5}">
                      <a16:colId xmlns:a16="http://schemas.microsoft.com/office/drawing/2014/main" val="3499067888"/>
                    </a:ext>
                  </a:extLst>
                </a:gridCol>
              </a:tblGrid>
              <a:tr h="5025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l_orderkey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980879"/>
                  </a:ext>
                </a:extLst>
              </a:tr>
              <a:tr h="5025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4966030"/>
                  </a:ext>
                </a:extLst>
              </a:tr>
              <a:tr h="5025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7956824"/>
                  </a:ext>
                </a:extLst>
              </a:tr>
              <a:tr h="5025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154822"/>
                  </a:ext>
                </a:extLst>
              </a:tr>
              <a:tr h="5025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3528283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E21332DA-7B01-9EF5-3912-36F0AAB60A39}"/>
              </a:ext>
            </a:extLst>
          </p:cNvPr>
          <p:cNvSpPr/>
          <p:nvPr/>
        </p:nvSpPr>
        <p:spPr>
          <a:xfrm>
            <a:off x="7608580" y="4393782"/>
            <a:ext cx="2844132" cy="646331"/>
          </a:xfrm>
          <a:prstGeom prst="rect">
            <a:avLst/>
          </a:prstGeom>
          <a:noFill/>
          <a:ln w="539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E94CD31-711B-B7E1-2C28-D1ABA77039E0}"/>
              </a:ext>
            </a:extLst>
          </p:cNvPr>
          <p:cNvSpPr txBox="1"/>
          <p:nvPr/>
        </p:nvSpPr>
        <p:spPr>
          <a:xfrm>
            <a:off x="6535210" y="4532281"/>
            <a:ext cx="978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BLOCK X</a:t>
            </a:r>
            <a:endParaRPr kumimoji="1" lang="zh-CN" alt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064880AE-48A8-09BE-56F5-850369CF7D18}"/>
              </a:ext>
            </a:extLst>
          </p:cNvPr>
          <p:cNvCxnSpPr>
            <a:cxnSpLocks/>
          </p:cNvCxnSpPr>
          <p:nvPr/>
        </p:nvCxnSpPr>
        <p:spPr>
          <a:xfrm>
            <a:off x="10835167" y="4387731"/>
            <a:ext cx="889987" cy="0"/>
          </a:xfrm>
          <a:prstGeom prst="line">
            <a:avLst/>
          </a:prstGeom>
          <a:ln w="50800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D4E5A3B6-563B-0FCD-8DA8-145A16247134}"/>
              </a:ext>
            </a:extLst>
          </p:cNvPr>
          <p:cNvCxnSpPr>
            <a:cxnSpLocks/>
          </p:cNvCxnSpPr>
          <p:nvPr/>
        </p:nvCxnSpPr>
        <p:spPr>
          <a:xfrm>
            <a:off x="4996405" y="4862767"/>
            <a:ext cx="1358096" cy="0"/>
          </a:xfrm>
          <a:prstGeom prst="line">
            <a:avLst/>
          </a:prstGeom>
          <a:ln w="50800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4F315D4B-0A78-7955-34E6-2386105A5FDA}"/>
              </a:ext>
            </a:extLst>
          </p:cNvPr>
          <p:cNvSpPr txBox="1"/>
          <p:nvPr/>
        </p:nvSpPr>
        <p:spPr>
          <a:xfrm>
            <a:off x="1329772" y="3885951"/>
            <a:ext cx="332325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对于节点</a:t>
            </a:r>
            <a:r>
              <a:rPr kumimoji="1"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X</a:t>
            </a:r>
            <a:r>
              <a:rPr kumimoji="1" lang="zh-CN" altLang="en-US" dirty="0"/>
              <a:t>，</a:t>
            </a:r>
            <a:r>
              <a:rPr kumimoji="1" lang="en-US" altLang="zh-CN" dirty="0"/>
              <a:t>o</a:t>
            </a:r>
            <a:r>
              <a:rPr kumimoji="1" lang="zh-CN" altLang="en-US" dirty="0"/>
              <a:t>表要保留</a:t>
            </a:r>
            <a:r>
              <a:rPr kumimoji="1" lang="en-US" altLang="zh-CN" dirty="0"/>
              <a:t>custkey</a:t>
            </a:r>
            <a:r>
              <a:rPr kumimoji="1" lang="zh-CN" altLang="en-US" dirty="0"/>
              <a:t>与</a:t>
            </a:r>
            <a:r>
              <a:rPr kumimoji="1" lang="en-US" altLang="zh-CN" dirty="0"/>
              <a:t>o</a:t>
            </a:r>
            <a:r>
              <a:rPr kumimoji="1" lang="zh-CN" altLang="en-US" dirty="0"/>
              <a:t>表中</a:t>
            </a:r>
            <a:r>
              <a:rPr kumimoji="1" lang="en-US" altLang="zh-CN" dirty="0"/>
              <a:t>custkey</a:t>
            </a:r>
            <a:r>
              <a:rPr kumimoji="1" lang="zh-CN" altLang="en-US" dirty="0"/>
              <a:t>相同的项，即执行语句：</a:t>
            </a:r>
            <a:br>
              <a:rPr kumimoji="1" lang="en-US" altLang="zh-CN" dirty="0"/>
            </a:br>
            <a:r>
              <a:rPr kumimoji="1" lang="en-US" altLang="zh-CN" dirty="0"/>
              <a:t>SELECT * FROM c, </a:t>
            </a:r>
            <a:r>
              <a:rPr kumimoji="1" lang="en-US" altLang="zh-CN" dirty="0" err="1"/>
              <a:t>o</a:t>
            </a:r>
            <a:r>
              <a:rPr kumimoji="1" lang="en-US" altLang="zh-CN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_X</a:t>
            </a:r>
            <a:r>
              <a:rPr kumimoji="1" lang="en-US" altLang="zh-CN" dirty="0"/>
              <a:t>, l</a:t>
            </a:r>
            <a:br>
              <a:rPr kumimoji="1" lang="en-US" altLang="zh-CN" dirty="0"/>
            </a:br>
            <a:r>
              <a:rPr kumimoji="1" lang="en-US" altLang="zh-CN" dirty="0"/>
              <a:t>WHERE c_custkey</a:t>
            </a:r>
            <a:r>
              <a:rPr kumimoji="1"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kumimoji="1" lang="en-US" altLang="zh-CN" dirty="0"/>
              <a:t>= o_custkey</a:t>
            </a:r>
            <a:r>
              <a:rPr kumimoji="1"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_X </a:t>
            </a:r>
            <a:r>
              <a:rPr kumimoji="1" lang="en-US" altLang="zh-CN" dirty="0"/>
              <a:t>AND l_orderkey = </a:t>
            </a:r>
            <a:r>
              <a:rPr kumimoji="1" lang="en-US" altLang="zh-CN" dirty="0" err="1"/>
              <a:t>o_orderkey</a:t>
            </a:r>
            <a:r>
              <a:rPr kumimoji="1" lang="en-US" altLang="zh-CN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_X</a:t>
            </a:r>
            <a:endParaRPr kumimoji="1" lang="en-US" altLang="zh-CN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07468953"/>
      </p:ext>
    </p:extLst>
  </p:cSld>
  <p:clrMapOvr>
    <a:masterClrMapping/>
  </p:clrMapOvr>
  <p:transition spd="slow" advTm="13206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610B98B-3717-47B5-D710-5246FEE90200}"/>
              </a:ext>
            </a:extLst>
          </p:cNvPr>
          <p:cNvSpPr txBox="1"/>
          <p:nvPr/>
        </p:nvSpPr>
        <p:spPr>
          <a:xfrm>
            <a:off x="3890357" y="315883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b="1" dirty="0"/>
              <a:t>模拟分布式数据库处理</a:t>
            </a:r>
            <a:r>
              <a:rPr kumimoji="1" lang="en-US" altLang="zh-CN" sz="2000" b="1" dirty="0"/>
              <a:t>Hash</a:t>
            </a:r>
            <a:r>
              <a:rPr kumimoji="1" lang="zh-CN" altLang="en-US" sz="2000" b="1" dirty="0"/>
              <a:t> </a:t>
            </a:r>
            <a:r>
              <a:rPr kumimoji="1" lang="en-US" altLang="zh-CN" sz="2000" b="1" dirty="0"/>
              <a:t>Join</a:t>
            </a:r>
            <a:r>
              <a:rPr kumimoji="1" lang="zh-CN" altLang="en-US" sz="2000" b="1" dirty="0"/>
              <a:t>难题的解决思路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655E857-C2DB-9937-18B3-D3364744BFB9}"/>
              </a:ext>
            </a:extLst>
          </p:cNvPr>
          <p:cNvSpPr txBox="1"/>
          <p:nvPr/>
        </p:nvSpPr>
        <p:spPr>
          <a:xfrm>
            <a:off x="1116676" y="1116676"/>
            <a:ext cx="10723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2.</a:t>
            </a:r>
            <a:r>
              <a:rPr kumimoji="1" lang="zh-CN" altLang="en-US" dirty="0"/>
              <a:t>使用模拟的方式改写</a:t>
            </a:r>
            <a:r>
              <a:rPr kumimoji="1" lang="en-US" altLang="zh-CN" dirty="0" err="1"/>
              <a:t>sql</a:t>
            </a:r>
            <a:r>
              <a:rPr kumimoji="1" lang="zh-CN" altLang="en-US" dirty="0"/>
              <a:t>，从而模拟实现</a:t>
            </a:r>
            <a:r>
              <a:rPr lang="zh-CN" altLang="en-US" dirty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每个节点保留符合条件的</a:t>
            </a:r>
            <a:r>
              <a:rPr lang="en-US" altLang="zh-CN" dirty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records</a:t>
            </a:r>
            <a:r>
              <a:rPr lang="zh-CN" altLang="en-US" dirty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的效果。具体操作如下：</a:t>
            </a:r>
            <a:endParaRPr lang="en-US" altLang="zh-CN" dirty="0"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5A06B3C-F9FC-BB23-3D0B-29D512B6B735}"/>
              </a:ext>
            </a:extLst>
          </p:cNvPr>
          <p:cNvSpPr txBox="1"/>
          <p:nvPr/>
        </p:nvSpPr>
        <p:spPr>
          <a:xfrm>
            <a:off x="1433945" y="1613378"/>
            <a:ext cx="100888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对于一个含有</a:t>
            </a:r>
            <a:r>
              <a:rPr kumimoji="1" lang="en-US" altLang="zh-CN" dirty="0"/>
              <a:t>join</a:t>
            </a:r>
            <a:r>
              <a:rPr kumimoji="1" lang="zh-CN" altLang="en-US" dirty="0"/>
              <a:t>操作的语句：</a:t>
            </a:r>
            <a:r>
              <a:rPr kumimoji="1" lang="en-US" altLang="zh-CN" dirty="0"/>
              <a:t> </a:t>
            </a:r>
          </a:p>
          <a:p>
            <a:pPr lvl="1"/>
            <a:r>
              <a:rPr kumimoji="1" lang="en-US" altLang="zh-CN" dirty="0"/>
              <a:t>SELECT * FROM c, o, l</a:t>
            </a:r>
            <a:br>
              <a:rPr kumimoji="1" lang="en-US" altLang="zh-CN" dirty="0"/>
            </a:br>
            <a:r>
              <a:rPr kumimoji="1" lang="en-US" altLang="zh-CN" dirty="0"/>
              <a:t>WHERE </a:t>
            </a:r>
            <a:r>
              <a:rPr kumimoji="1" lang="en-US" altLang="zh-CN" dirty="0" err="1"/>
              <a:t>c_custkey</a:t>
            </a:r>
            <a:r>
              <a:rPr kumimoji="1" lang="en-US" altLang="zh-CN" dirty="0"/>
              <a:t> = o_custkey AND l_orderkey = o_orderkey</a:t>
            </a:r>
          </a:p>
          <a:p>
            <a:r>
              <a:rPr kumimoji="1" lang="zh-CN" altLang="en-US" dirty="0"/>
              <a:t>诉求：</a:t>
            </a:r>
            <a:endParaRPr kumimoji="1" lang="en-US" altLang="zh-CN" dirty="0"/>
          </a:p>
          <a:p>
            <a:r>
              <a:rPr kumimoji="1" lang="zh-CN" altLang="en-US" dirty="0"/>
              <a:t>         在子表中保留所有满足全局要求的</a:t>
            </a:r>
            <a:r>
              <a:rPr kumimoji="1" lang="en-US" altLang="zh-CN" dirty="0"/>
              <a:t>item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F315D4B-0A78-7955-34E6-2386105A5FDA}"/>
              </a:ext>
            </a:extLst>
          </p:cNvPr>
          <p:cNvSpPr txBox="1"/>
          <p:nvPr/>
        </p:nvSpPr>
        <p:spPr>
          <a:xfrm>
            <a:off x="1433945" y="3264242"/>
            <a:ext cx="95735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对于节点</a:t>
            </a:r>
            <a:r>
              <a:rPr kumimoji="1"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X</a:t>
            </a:r>
            <a:r>
              <a:rPr kumimoji="1" lang="zh-CN" altLang="en-US" dirty="0"/>
              <a:t>，</a:t>
            </a:r>
            <a:r>
              <a:rPr kumimoji="1" lang="en-US" altLang="zh-CN" dirty="0"/>
              <a:t>l</a:t>
            </a:r>
            <a:r>
              <a:rPr kumimoji="1" lang="zh-CN" altLang="en-US" dirty="0"/>
              <a:t>表要保留</a:t>
            </a:r>
            <a:r>
              <a:rPr kumimoji="1" lang="en-US" altLang="zh-CN" dirty="0"/>
              <a:t>custkey</a:t>
            </a:r>
            <a:r>
              <a:rPr kumimoji="1" lang="zh-CN" altLang="en-US" dirty="0"/>
              <a:t>与</a:t>
            </a:r>
            <a:r>
              <a:rPr kumimoji="1" lang="en-US" altLang="zh-CN" dirty="0"/>
              <a:t>o</a:t>
            </a:r>
            <a:r>
              <a:rPr kumimoji="1" lang="zh-CN" altLang="en-US" dirty="0"/>
              <a:t>表中</a:t>
            </a:r>
            <a:r>
              <a:rPr kumimoji="1" lang="en-US" altLang="zh-CN" dirty="0"/>
              <a:t>custkey</a:t>
            </a:r>
            <a:r>
              <a:rPr kumimoji="1" lang="zh-CN" altLang="en-US" dirty="0"/>
              <a:t>相同的项，即执行语句： </a:t>
            </a:r>
            <a:endParaRPr kumimoji="1" lang="en-US" altLang="zh-CN" dirty="0"/>
          </a:p>
          <a:p>
            <a:r>
              <a:rPr kumimoji="1" lang="en-US" altLang="zh-CN" dirty="0"/>
              <a:t>SELECT * FROM customer, orders, lineitem</a:t>
            </a:r>
            <a:br>
              <a:rPr kumimoji="1" lang="en-US" altLang="zh-CN" dirty="0"/>
            </a:br>
            <a:r>
              <a:rPr kumimoji="1" lang="en-US" altLang="zh-CN" dirty="0"/>
              <a:t>WHERE (c_custkey= o_custkey AND l_orderkey</a:t>
            </a:r>
            <a:r>
              <a:rPr kumimoji="1"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_X</a:t>
            </a:r>
            <a:r>
              <a:rPr kumimoji="1" lang="en-US" altLang="zh-CN" dirty="0"/>
              <a:t> = o_orderkey)</a:t>
            </a:r>
          </a:p>
        </p:txBody>
      </p:sp>
    </p:spTree>
    <p:extLst>
      <p:ext uri="{BB962C8B-B14F-4D97-AF65-F5344CB8AC3E}">
        <p14:creationId xmlns:p14="http://schemas.microsoft.com/office/powerpoint/2010/main" val="86688509"/>
      </p:ext>
    </p:extLst>
  </p:cSld>
  <p:clrMapOvr>
    <a:masterClrMapping/>
  </p:clrMapOvr>
  <p:transition spd="slow" advTm="13206">
    <p:push dir="u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灰色商务工作汇报PPT模板3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 kumimoji="1" dirty="0"/>
        </a:defPPr>
      </a:lstStyle>
      <a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a:style>
    </a:spDef>
    <a:lnDef>
      <a:spPr>
        <a:ln w="254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65359</TotalTime>
  <Words>551</Words>
  <Application>Microsoft Macintosh PowerPoint</Application>
  <PresentationFormat>宽屏</PresentationFormat>
  <Paragraphs>71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PingFang SC</vt:lpstr>
      <vt:lpstr>Arial</vt:lpstr>
      <vt:lpstr>Calibri</vt:lpstr>
      <vt:lpstr>Calibri Light</vt:lpstr>
      <vt:lpstr>Helvetica Neue</vt:lpstr>
      <vt:lpstr>第一PPT，www.1ppt.com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简洁黑白</dc:title>
  <dc:creator>第一PPT</dc:creator>
  <cp:keywords>www.1ppt.com</cp:keywords>
  <dc:description>www.1ppt.com</dc:description>
  <cp:lastModifiedBy>丰瑞 刘</cp:lastModifiedBy>
  <cp:revision>608</cp:revision>
  <dcterms:created xsi:type="dcterms:W3CDTF">2019-04-09T06:58:04Z</dcterms:created>
  <dcterms:modified xsi:type="dcterms:W3CDTF">2023-06-22T17:29:44Z</dcterms:modified>
</cp:coreProperties>
</file>